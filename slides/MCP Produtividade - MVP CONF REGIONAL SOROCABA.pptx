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1" r:id="rId5"/>
    <p:sldId id="262" r:id="rId6"/>
    <p:sldId id="265" r:id="rId7"/>
    <p:sldId id="259" r:id="rId8"/>
    <p:sldId id="267" r:id="rId9"/>
    <p:sldId id="268" r:id="rId10"/>
    <p:sldId id="269" r:id="rId11"/>
    <p:sldId id="270" r:id="rId12"/>
    <p:sldId id="266" r:id="rId13"/>
    <p:sldId id="264" r:id="rId14"/>
    <p:sldId id="260" r:id="rId15"/>
  </p:sldIdLst>
  <p:sldSz cx="18288000" cy="10287000"/>
  <p:notesSz cx="6858000" cy="9144000"/>
  <p:embeddedFontLst>
    <p:embeddedFont>
      <p:font typeface="Quantico Bold" panose="020B0604020202020204" charset="0"/>
      <p:regular r:id="rId17"/>
    </p:embeddedFont>
    <p:embeddedFont>
      <p:font typeface="Roboto" panose="02000000000000000000" pitchFamily="2" charset="0"/>
      <p:regular r:id="rId18"/>
      <p:bold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12.06.2026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166B9-FAAA-40C1-1F7E-F9F55D783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6118BCD-97BB-0AC7-DA73-8B659D3ABB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7B4D6B-7D96-02D6-153C-58F100CA955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0E61365-7631-243D-6110-71AE7C7CF6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D4CFCA8-1336-B593-8A20-590E838073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586381-4735-EA81-23F3-F5EA5167C0C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B88E05-B5FB-A609-77B1-5C6BDEC9C1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6422738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CE5DD-96DB-88D8-3A84-777F8D83B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4379274-318D-A2F5-A68B-E46D2440CFA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D1A79D-CCB2-38EF-BB6C-DABAABF4E1C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ECC8EA1-3EAF-DCF4-7454-4B11F7AF3C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AFEC122-ADF9-4E81-A1F4-A7E1534F72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BE783C-B5CB-6F78-C26C-87FC233EC8B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245CD-5EF6-7980-25DD-872F2BFF6E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2782621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86929-09A8-1240-4F7A-81D59322E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48FE89-3393-E293-DCA1-7739C9F4EA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0F36C6-B7F9-93D1-C45C-94F4CD94715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0C35426-0ACE-5D46-C6C4-15EB116AC5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3F3791E-B141-3911-3CA7-7A4772425B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61293B-20D5-CD79-D72C-B68DB5593B2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2CA79F-A031-E2F3-03E1-8D576E4936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8459235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D815C-5E78-428D-DD55-0FA172A3D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66081EB-FC37-DF44-E1EF-3793AF32B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008F2-4461-7164-DB53-BFB12C9BCFE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C320234-1136-0B73-7E09-814FB1C7EC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ECC9E0B-5D7F-EE67-C53A-CEAFAAE0BE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2ED8B5-D747-7F06-401A-DD22B7526A1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5C0F36-B07F-F45E-A7BC-DD27EEB995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2211897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BC7FD-F228-A81C-B34B-0D515ACBB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6258090-7C4A-C147-E5C9-AEB01CFF82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F7D1EA-A266-ABBD-6595-FD6624536DE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5E1802B-E9EF-E541-4878-CD675BDEF3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AF61E44-53CA-6F52-3998-D8D0ED159E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43213D-6F93-B3DF-5C7A-0AAE8BC18DA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724C2-A3D4-83EA-5482-962CBB3D2C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230754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2AF3E-27A6-54CB-BAB6-5F73113E0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BF3FA15-C46F-4C25-9217-A515CBB24F0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C4C20A-1851-A3DB-7E67-C50EF9CAC41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B040A29-D2CA-ADE4-EA44-9885B833FB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7FB30CE-4CCE-AA8A-B016-65979DB08C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AEB43C-A912-B3A3-E8B9-A8CF93AF499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5BE8C-D28C-1DB4-0D0E-5CE0961727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2414997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7211E-2C43-8825-8F08-FC29941C2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4702B35-5EF3-208A-AF19-46A51EB285C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DAD0A1-AAF4-E65C-D55D-5E2D3416689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4305499-CB8A-9D7C-22B1-0BFE000C5C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7DEA4FA-07FB-8A0D-225E-64F3831F76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318326-1303-727D-DAB9-D4F782886F7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0C5134-70B6-6FA2-048F-72DD0B6F99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2839575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F91E2-30EA-2D2D-1A21-565A8E0F7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A57DF02-C4B4-9940-DB6E-BB032BD233F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9244A9-FDE4-4152-6848-0A2220B9408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285BB1A-C915-C10F-E538-DA361D8B8A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7B413FC-B898-EB45-4890-930996D16E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04436F-1270-5DF3-CBA1-AD9E16AD970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B314DE-87C7-915C-51C6-24AE3B2DF5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0045206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716D9-4CBB-9AFF-A214-5E0CBCE97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020F11E-27AC-5804-3CBA-7B1C75F94E5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4A78CC-2569-8662-F732-1F7F5B44BEC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1A69434-E321-0677-B058-9AE51B85E5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20C909B-FC07-D0A0-F95E-20D6E20E92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9064D6-8909-10C7-D162-FBDD59B15AD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5CE168-62D4-0C2B-E8AB-408721B8B8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0604861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jp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jpe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7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11" Type="http://schemas.openxmlformats.org/officeDocument/2006/relationships/image" Target="../media/image23.svg"/><Relationship Id="rId5" Type="http://schemas.openxmlformats.org/officeDocument/2006/relationships/image" Target="../media/image16.png"/><Relationship Id="rId10" Type="http://schemas.openxmlformats.org/officeDocument/2006/relationships/image" Target="../media/image22.svg"/><Relationship Id="rId4" Type="http://schemas.openxmlformats.org/officeDocument/2006/relationships/image" Target="../media/image5.png"/><Relationship Id="rId9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7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7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Freeform 4"/>
          <p:cNvSpPr/>
          <p:nvPr/>
        </p:nvSpPr>
        <p:spPr>
          <a:xfrm>
            <a:off x="7162800" y="3390900"/>
            <a:ext cx="4724400" cy="1219200"/>
          </a:xfrm>
          <a:custGeom>
            <a:avLst/>
            <a:gdLst/>
            <a:ahLst/>
            <a:cxnLst/>
            <a:rect l="l" t="t" r="r" b="b"/>
            <a:pathLst>
              <a:path w="2368055" h="448036">
                <a:moveTo>
                  <a:pt x="0" y="0"/>
                </a:moveTo>
                <a:lnTo>
                  <a:pt x="2368055" y="0"/>
                </a:lnTo>
                <a:lnTo>
                  <a:pt x="2368055" y="448036"/>
                </a:lnTo>
                <a:lnTo>
                  <a:pt x="0" y="4480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19" r="-119"/>
            </a:stretch>
          </a:blipFill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2140245" cy="6587755"/>
            <a:chOff x="0" y="0"/>
            <a:chExt cx="3197431" cy="173504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197431" cy="1735047"/>
            </a:xfrm>
            <a:custGeom>
              <a:avLst/>
              <a:gdLst/>
              <a:ahLst/>
              <a:cxnLst/>
              <a:rect l="l" t="t" r="r" b="b"/>
              <a:pathLst>
                <a:path w="3197431" h="1735047">
                  <a:moveTo>
                    <a:pt x="0" y="0"/>
                  </a:moveTo>
                  <a:lnTo>
                    <a:pt x="3197431" y="0"/>
                  </a:lnTo>
                  <a:lnTo>
                    <a:pt x="3197431" y="1735047"/>
                  </a:lnTo>
                  <a:lnTo>
                    <a:pt x="0" y="1735047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/>
            <a:lstStyle/>
            <a:p>
              <a:endParaRPr lang="pt-BR" sz="1600" dirty="0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3197431" cy="17731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sz="1600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87082" y="3073200"/>
            <a:ext cx="11253163" cy="17094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999"/>
              </a:lnSpc>
              <a:spcBef>
                <a:spcPct val="0"/>
              </a:spcBef>
            </a:pPr>
            <a:r>
              <a:rPr lang="pt-BR" sz="3600" b="1" dirty="0">
                <a:solidFill>
                  <a:srgbClr val="000000"/>
                </a:solidFill>
                <a:latin typeface="Quantico Bold"/>
                <a:ea typeface="Quantico Bold"/>
                <a:cs typeface="Quantico Bold"/>
                <a:sym typeface="Quantico Bold"/>
              </a:rPr>
              <a:t>Produtividade no Desenvolvimento com </a:t>
            </a:r>
            <a:r>
              <a:rPr lang="pt-BR" sz="3600" b="1" dirty="0" err="1">
                <a:solidFill>
                  <a:srgbClr val="000000"/>
                </a:solidFill>
                <a:latin typeface="Quantico Bold"/>
                <a:ea typeface="Quantico Bold"/>
                <a:cs typeface="Quantico Bold"/>
                <a:sym typeface="Quantico Bold"/>
              </a:rPr>
              <a:t>IAs</a:t>
            </a:r>
            <a:br>
              <a:rPr lang="pt-BR" sz="3600" b="1" dirty="0">
                <a:solidFill>
                  <a:srgbClr val="000000"/>
                </a:solidFill>
                <a:latin typeface="Quantico Bold"/>
                <a:ea typeface="Quantico Bold"/>
                <a:cs typeface="Quantico Bold"/>
                <a:sym typeface="Quantico Bold"/>
              </a:rPr>
            </a:br>
            <a:r>
              <a:rPr lang="pt-BR" sz="2400" b="1" dirty="0">
                <a:solidFill>
                  <a:srgbClr val="000000"/>
                </a:solidFill>
                <a:latin typeface="Quantico Bold"/>
                <a:ea typeface="Quantico Bold"/>
                <a:cs typeface="Quantico Bold"/>
                <a:sym typeface="Quantico Bold"/>
              </a:rPr>
              <a:t>Descomplicando tarefas do dia-a-dia com GitHub </a:t>
            </a:r>
            <a:r>
              <a:rPr lang="pt-BR" sz="2400" b="1" dirty="0" err="1">
                <a:solidFill>
                  <a:srgbClr val="000000"/>
                </a:solidFill>
                <a:latin typeface="Quantico Bold"/>
                <a:ea typeface="Quantico Bold"/>
                <a:cs typeface="Quantico Bold"/>
                <a:sym typeface="Quantico Bold"/>
              </a:rPr>
              <a:t>Copilot</a:t>
            </a:r>
            <a:r>
              <a:rPr lang="pt-BR" sz="2400" b="1" dirty="0">
                <a:solidFill>
                  <a:srgbClr val="000000"/>
                </a:solidFill>
                <a:latin typeface="Quantico Bold"/>
                <a:ea typeface="Quantico Bold"/>
                <a:cs typeface="Quantico Bold"/>
                <a:sym typeface="Quantico Bold"/>
              </a:rPr>
              <a:t> + MCP Servers</a:t>
            </a:r>
            <a:endParaRPr lang="en-US" sz="2400" b="1" dirty="0">
              <a:solidFill>
                <a:srgbClr val="000000"/>
              </a:solidFill>
              <a:latin typeface="Quantico Bold"/>
              <a:ea typeface="Quantico Bold"/>
              <a:cs typeface="Quantico Bold"/>
              <a:sym typeface="Quantico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87082" y="5397130"/>
            <a:ext cx="10300663" cy="736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1EBED5"/>
                </a:solidFill>
                <a:latin typeface="Quantico Bold"/>
                <a:ea typeface="Quantico Bold"/>
                <a:cs typeface="Quantico Bold"/>
                <a:sym typeface="Quantico Bold"/>
              </a:rPr>
              <a:t>Renato Groffe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1EBED5"/>
                </a:solidFill>
                <a:latin typeface="Quantico Bold"/>
                <a:ea typeface="Quantico Bold"/>
                <a:cs typeface="Quantico Bold"/>
                <a:sym typeface="Quantico Bold"/>
              </a:rPr>
              <a:t>Milton Camara Gomes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34480" y="2512409"/>
            <a:ext cx="4147513" cy="533231"/>
            <a:chOff x="0" y="0"/>
            <a:chExt cx="1092349" cy="14043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92349" cy="140439"/>
            </a:xfrm>
            <a:custGeom>
              <a:avLst/>
              <a:gdLst/>
              <a:ahLst/>
              <a:cxnLst/>
              <a:rect l="l" t="t" r="r" b="b"/>
              <a:pathLst>
                <a:path w="1092349" h="140439">
                  <a:moveTo>
                    <a:pt x="0" y="0"/>
                  </a:moveTo>
                  <a:lnTo>
                    <a:pt x="1092349" y="0"/>
                  </a:lnTo>
                  <a:lnTo>
                    <a:pt x="1092349" y="140439"/>
                  </a:lnTo>
                  <a:lnTo>
                    <a:pt x="0" y="140439"/>
                  </a:lnTo>
                  <a:close/>
                </a:path>
              </a:pathLst>
            </a:custGeom>
            <a:solidFill>
              <a:srgbClr val="1EBED5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092349" cy="1785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33475" y="2600225"/>
            <a:ext cx="3749523" cy="329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9"/>
              </a:lnSpc>
              <a:spcBef>
                <a:spcPct val="0"/>
              </a:spcBef>
            </a:pPr>
            <a:r>
              <a:rPr lang="en-US" sz="1992" b="1">
                <a:solidFill>
                  <a:srgbClr val="000000"/>
                </a:solidFill>
                <a:latin typeface="Quantico Bold"/>
                <a:ea typeface="Quantico Bold"/>
                <a:cs typeface="Quantico Bold"/>
                <a:sym typeface="Quantico Bold"/>
              </a:rPr>
              <a:t>/09 TECNOLOGIA EMERGENTES</a:t>
            </a:r>
          </a:p>
        </p:txBody>
      </p:sp>
      <p:sp>
        <p:nvSpPr>
          <p:cNvPr id="14" name="Freeform 4">
            <a:extLst>
              <a:ext uri="{FF2B5EF4-FFF2-40B4-BE49-F238E27FC236}">
                <a16:creationId xmlns:a16="http://schemas.microsoft.com/office/drawing/2014/main" id="{245A547C-C89F-6B26-3447-92F52CA2BD5B}"/>
              </a:ext>
            </a:extLst>
          </p:cNvPr>
          <p:cNvSpPr/>
          <p:nvPr/>
        </p:nvSpPr>
        <p:spPr>
          <a:xfrm>
            <a:off x="3048000" y="6785740"/>
            <a:ext cx="3124200" cy="988851"/>
          </a:xfrm>
          <a:custGeom>
            <a:avLst/>
            <a:gdLst/>
            <a:ahLst/>
            <a:cxnLst/>
            <a:rect l="l" t="t" r="r" b="b"/>
            <a:pathLst>
              <a:path w="2368055" h="448036">
                <a:moveTo>
                  <a:pt x="0" y="0"/>
                </a:moveTo>
                <a:lnTo>
                  <a:pt x="2368055" y="0"/>
                </a:lnTo>
                <a:lnTo>
                  <a:pt x="2368055" y="448036"/>
                </a:lnTo>
                <a:lnTo>
                  <a:pt x="0" y="4480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19" r="-119"/>
            </a:stretch>
          </a:blipFill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 sz="2000"/>
            </a:p>
          </p:txBody>
        </p:sp>
      </p:grpSp>
      <p:sp>
        <p:nvSpPr>
          <p:cNvPr id="4" name="Freeform 4"/>
          <p:cNvSpPr/>
          <p:nvPr/>
        </p:nvSpPr>
        <p:spPr>
          <a:xfrm>
            <a:off x="15627693" y="461626"/>
            <a:ext cx="642518" cy="687237"/>
          </a:xfrm>
          <a:custGeom>
            <a:avLst/>
            <a:gdLst/>
            <a:ahLst/>
            <a:cxnLst/>
            <a:rect l="l" t="t" r="r" b="b"/>
            <a:pathLst>
              <a:path w="642518" h="687237">
                <a:moveTo>
                  <a:pt x="0" y="0"/>
                </a:moveTo>
                <a:lnTo>
                  <a:pt x="642517" y="0"/>
                </a:lnTo>
                <a:lnTo>
                  <a:pt x="642517" y="687237"/>
                </a:lnTo>
                <a:lnTo>
                  <a:pt x="0" y="687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ED340C5-0E14-F9F4-35F8-85EC24A5EF09}"/>
              </a:ext>
            </a:extLst>
          </p:cNvPr>
          <p:cNvSpPr txBox="1">
            <a:spLocks/>
          </p:cNvSpPr>
          <p:nvPr/>
        </p:nvSpPr>
        <p:spPr>
          <a:xfrm>
            <a:off x="838200" y="1181100"/>
            <a:ext cx="10515600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</a:rPr>
              <a:t>Renato Groffe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16A4AE1-0678-6D19-CE8A-1989B1A33498}"/>
              </a:ext>
            </a:extLst>
          </p:cNvPr>
          <p:cNvSpPr txBox="1">
            <a:spLocks/>
          </p:cNvSpPr>
          <p:nvPr/>
        </p:nvSpPr>
        <p:spPr>
          <a:xfrm>
            <a:off x="776841" y="2374328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Microsoft Most Valuable Professional (MVP)</a:t>
            </a:r>
          </a:p>
          <a:p>
            <a:r>
              <a:rPr lang="en-US" sz="2800" dirty="0"/>
              <a:t>Docker Captain</a:t>
            </a:r>
          </a:p>
          <a:p>
            <a:r>
              <a:rPr lang="en-US" sz="2800" dirty="0"/>
              <a:t>Grafana Champion</a:t>
            </a:r>
          </a:p>
          <a:p>
            <a:r>
              <a:rPr lang="en-US" sz="2800" dirty="0"/>
              <a:t>APISEC U Ambassador</a:t>
            </a:r>
          </a:p>
          <a:p>
            <a:r>
              <a:rPr lang="en-US" sz="2800" dirty="0"/>
              <a:t>Multi-</a:t>
            </a:r>
            <a:r>
              <a:rPr lang="en-US" sz="2800" dirty="0" err="1"/>
              <a:t>Plataform</a:t>
            </a:r>
            <a:r>
              <a:rPr lang="en-US" sz="2800" dirty="0"/>
              <a:t> Technical Audience Contributor (MTAC)</a:t>
            </a:r>
          </a:p>
          <a:p>
            <a:r>
              <a:rPr lang="en-US" sz="2800" dirty="0" err="1"/>
              <a:t>Arquiteto</a:t>
            </a:r>
            <a:r>
              <a:rPr lang="en-US" sz="2800" dirty="0"/>
              <a:t> de </a:t>
            </a:r>
            <a:r>
              <a:rPr lang="en-US" sz="2800" dirty="0" err="1"/>
              <a:t>Soluções</a:t>
            </a:r>
            <a:r>
              <a:rPr lang="en-US" sz="2800" dirty="0"/>
              <a:t>/Software</a:t>
            </a:r>
          </a:p>
          <a:p>
            <a:r>
              <a:rPr lang="en-US" sz="2800" dirty="0"/>
              <a:t>+20 </a:t>
            </a:r>
            <a:r>
              <a:rPr lang="en-US" sz="2800" dirty="0" err="1"/>
              <a:t>anos</a:t>
            </a:r>
            <a:r>
              <a:rPr lang="en-US" sz="2800" dirty="0"/>
              <a:t> de </a:t>
            </a:r>
            <a:r>
              <a:rPr lang="en-US" sz="2800" dirty="0" err="1"/>
              <a:t>experiência</a:t>
            </a:r>
            <a:r>
              <a:rPr lang="en-US" sz="2800" dirty="0"/>
              <a:t> </a:t>
            </a:r>
            <a:r>
              <a:rPr lang="en-US" sz="2800" dirty="0" err="1"/>
              <a:t>na</a:t>
            </a:r>
            <a:r>
              <a:rPr lang="en-US" sz="2800" dirty="0"/>
              <a:t> </a:t>
            </a:r>
            <a:r>
              <a:rPr lang="en-US" sz="2800" dirty="0" err="1"/>
              <a:t>área</a:t>
            </a:r>
            <a:r>
              <a:rPr lang="en-US" sz="2800" dirty="0"/>
              <a:t> de </a:t>
            </a:r>
            <a:r>
              <a:rPr lang="en-US" sz="2800" dirty="0" err="1"/>
              <a:t>Tecnologia</a:t>
            </a:r>
            <a:endParaRPr lang="en-US" sz="2800" dirty="0"/>
          </a:p>
          <a:p>
            <a:r>
              <a:rPr lang="en-US" sz="2800" dirty="0"/>
              <a:t>Community Leader, Autor Técnico e </a:t>
            </a:r>
            <a:r>
              <a:rPr lang="en-US" sz="2800" dirty="0" err="1"/>
              <a:t>Palestrante</a:t>
            </a:r>
            <a:endParaRPr lang="en-US" sz="23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7" name="Imagem 6" descr="Código QR&#10;&#10;O conteúdo gerado por IA pode estar incorreto.">
            <a:extLst>
              <a:ext uri="{FF2B5EF4-FFF2-40B4-BE49-F238E27FC236}">
                <a16:creationId xmlns:a16="http://schemas.microsoft.com/office/drawing/2014/main" id="{5A03AA51-FFD1-8A7F-FCF2-E08B42FDC9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49217" y="5712803"/>
            <a:ext cx="3659022" cy="3659022"/>
          </a:xfrm>
          <a:prstGeom prst="rect">
            <a:avLst/>
          </a:prstGeom>
        </p:spPr>
      </p:pic>
      <p:pic>
        <p:nvPicPr>
          <p:cNvPr id="8" name="Picture 2" descr="http://www.codeisahighway.com/content/images/2015/10/MVP_Logo_Horizontal_Preferred_Cyan300_RGB_300ppi.png">
            <a:extLst>
              <a:ext uri="{FF2B5EF4-FFF2-40B4-BE49-F238E27FC236}">
                <a16:creationId xmlns:a16="http://schemas.microsoft.com/office/drawing/2014/main" id="{63D7F3DC-EB2D-4BD8-077C-AB59E84604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7256321"/>
            <a:ext cx="3098211" cy="1250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m 8" descr="Placa branca com texto preto sobre fundo azul&#10;&#10;Descrição gerada automaticamente">
            <a:extLst>
              <a:ext uri="{FF2B5EF4-FFF2-40B4-BE49-F238E27FC236}">
                <a16:creationId xmlns:a16="http://schemas.microsoft.com/office/drawing/2014/main" id="{85717131-4B34-35CC-0A86-0CA2B39774C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6819" y="6775707"/>
            <a:ext cx="2118037" cy="2118037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A4798A0B-CA30-B189-D59E-354E2BF6EB7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6008" y="6626791"/>
            <a:ext cx="2415867" cy="2415867"/>
          </a:xfrm>
          <a:prstGeom prst="rect">
            <a:avLst/>
          </a:prstGeom>
        </p:spPr>
      </p:pic>
      <p:pic>
        <p:nvPicPr>
          <p:cNvPr id="11" name="Imagem 10" descr="Placa azul com letras brancas&#10;&#10;O conteúdo gerado por IA pode estar incorreto.">
            <a:extLst>
              <a:ext uri="{FF2B5EF4-FFF2-40B4-BE49-F238E27FC236}">
                <a16:creationId xmlns:a16="http://schemas.microsoft.com/office/drawing/2014/main" id="{33310453-A4FC-926F-713A-8B581653F80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68835" y="6380488"/>
            <a:ext cx="2564619" cy="2564619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6018FFF7-1607-646F-3396-0DA1F4D10E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03252" y="6340216"/>
            <a:ext cx="3104952" cy="3087892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F3695C34-21DA-7AD0-2286-280443D0614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028103" y="1678535"/>
            <a:ext cx="3360737" cy="37289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EFDE5-7679-42DC-BB5A-69D5D8643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977AE1B-6B22-EDEB-64A4-3A81DA97EA04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>
              <a:extLst>
                <a:ext uri="{FF2B5EF4-FFF2-40B4-BE49-F238E27FC236}">
                  <a16:creationId xmlns:a16="http://schemas.microsoft.com/office/drawing/2014/main" id="{C8D9B686-CD39-00D3-B46B-7DD9FD698105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 sz="2000"/>
            </a:p>
          </p:txBody>
        </p:sp>
      </p:grpSp>
      <p:sp>
        <p:nvSpPr>
          <p:cNvPr id="4" name="Freeform 4">
            <a:extLst>
              <a:ext uri="{FF2B5EF4-FFF2-40B4-BE49-F238E27FC236}">
                <a16:creationId xmlns:a16="http://schemas.microsoft.com/office/drawing/2014/main" id="{E52F683C-84DC-3432-71A9-ECE832CEE9DC}"/>
              </a:ext>
            </a:extLst>
          </p:cNvPr>
          <p:cNvSpPr/>
          <p:nvPr/>
        </p:nvSpPr>
        <p:spPr>
          <a:xfrm>
            <a:off x="15627693" y="461626"/>
            <a:ext cx="642518" cy="687237"/>
          </a:xfrm>
          <a:custGeom>
            <a:avLst/>
            <a:gdLst/>
            <a:ahLst/>
            <a:cxnLst/>
            <a:rect l="l" t="t" r="r" b="b"/>
            <a:pathLst>
              <a:path w="642518" h="687237">
                <a:moveTo>
                  <a:pt x="0" y="0"/>
                </a:moveTo>
                <a:lnTo>
                  <a:pt x="642517" y="0"/>
                </a:lnTo>
                <a:lnTo>
                  <a:pt x="642517" y="687237"/>
                </a:lnTo>
                <a:lnTo>
                  <a:pt x="0" y="687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578A4ED-2595-CC69-EE28-BABBC70699B2}"/>
              </a:ext>
            </a:extLst>
          </p:cNvPr>
          <p:cNvSpPr txBox="1">
            <a:spLocks/>
          </p:cNvSpPr>
          <p:nvPr/>
        </p:nvSpPr>
        <p:spPr>
          <a:xfrm>
            <a:off x="838200" y="1181100"/>
            <a:ext cx="10515600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</a:rPr>
              <a:t>Milton Camara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22BF8BB-91A3-4450-6DBB-BC55A0BD4F55}"/>
              </a:ext>
            </a:extLst>
          </p:cNvPr>
          <p:cNvSpPr txBox="1">
            <a:spLocks/>
          </p:cNvSpPr>
          <p:nvPr/>
        </p:nvSpPr>
        <p:spPr>
          <a:xfrm>
            <a:off x="776841" y="2374328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800" dirty="0"/>
              <a:t>Microsoft Most </a:t>
            </a:r>
            <a:r>
              <a:rPr lang="pt-BR" sz="2800" dirty="0" err="1"/>
              <a:t>Valuable</a:t>
            </a:r>
            <a:r>
              <a:rPr lang="pt-BR" sz="2800" dirty="0"/>
              <a:t> Professional (MVP)</a:t>
            </a:r>
          </a:p>
          <a:p>
            <a:r>
              <a:rPr lang="pt-BR" sz="2800" dirty="0"/>
              <a:t>Head de Engenharia – </a:t>
            </a:r>
            <a:r>
              <a:rPr lang="pt-BR" sz="2800" dirty="0" err="1"/>
              <a:t>Robbu</a:t>
            </a:r>
            <a:r>
              <a:rPr lang="pt-BR" sz="2800" dirty="0"/>
              <a:t> Tecnologia</a:t>
            </a:r>
          </a:p>
          <a:p>
            <a:r>
              <a:rPr lang="pt-BR" sz="2800" dirty="0"/>
              <a:t>Arquiteto de Soluções/Software</a:t>
            </a:r>
          </a:p>
          <a:p>
            <a:r>
              <a:rPr lang="pt-BR" sz="2800" dirty="0"/>
              <a:t>+20 anos de experiência na área de Tecnologia</a:t>
            </a:r>
          </a:p>
          <a:p>
            <a:r>
              <a:rPr lang="pt-BR" sz="2800" dirty="0"/>
              <a:t>Community </a:t>
            </a:r>
            <a:r>
              <a:rPr lang="pt-BR" sz="2800" dirty="0" err="1"/>
              <a:t>Leader</a:t>
            </a:r>
            <a:r>
              <a:rPr lang="pt-BR" sz="2800" dirty="0"/>
              <a:t>, Autor Técnico e Palestrante</a:t>
            </a:r>
            <a:endParaRPr lang="en-US" sz="23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8" name="Picture 2" descr="http://www.codeisahighway.com/content/images/2015/10/MVP_Logo_Horizontal_Preferred_Cyan300_RGB_300ppi.png">
            <a:extLst>
              <a:ext uri="{FF2B5EF4-FFF2-40B4-BE49-F238E27FC236}">
                <a16:creationId xmlns:a16="http://schemas.microsoft.com/office/drawing/2014/main" id="{2FB3493E-BD89-6586-3F6B-2D58780185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709" y="6845702"/>
            <a:ext cx="3098211" cy="1250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 descr="imagem do perfil">
            <a:extLst>
              <a:ext uri="{FF2B5EF4-FFF2-40B4-BE49-F238E27FC236}">
                <a16:creationId xmlns:a16="http://schemas.microsoft.com/office/drawing/2014/main" id="{916D911B-F916-5F23-ADD6-142F86BE49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49628" y="1825130"/>
            <a:ext cx="3049172" cy="3049172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2">
            <a:extLst>
              <a:ext uri="{FF2B5EF4-FFF2-40B4-BE49-F238E27FC236}">
                <a16:creationId xmlns:a16="http://schemas.microsoft.com/office/drawing/2014/main" id="{97CC739B-539F-A87E-A999-A501159A92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219148" y="6056065"/>
            <a:ext cx="3104951" cy="3049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0292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9B56B-9314-E9CA-E7E7-71F144F31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0877CA1-46D0-3285-0A33-FE0274FB997C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>
              <a:extLst>
                <a:ext uri="{FF2B5EF4-FFF2-40B4-BE49-F238E27FC236}">
                  <a16:creationId xmlns:a16="http://schemas.microsoft.com/office/drawing/2014/main" id="{3F5A4A47-C2EB-327C-15AD-8F534F6C0B26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 sz="2000"/>
            </a:p>
          </p:txBody>
        </p:sp>
      </p:grpSp>
      <p:sp>
        <p:nvSpPr>
          <p:cNvPr id="4" name="Freeform 4">
            <a:extLst>
              <a:ext uri="{FF2B5EF4-FFF2-40B4-BE49-F238E27FC236}">
                <a16:creationId xmlns:a16="http://schemas.microsoft.com/office/drawing/2014/main" id="{6BB13747-8E44-5F0A-D196-4A3DE17EAC8E}"/>
              </a:ext>
            </a:extLst>
          </p:cNvPr>
          <p:cNvSpPr/>
          <p:nvPr/>
        </p:nvSpPr>
        <p:spPr>
          <a:xfrm>
            <a:off x="15627693" y="461626"/>
            <a:ext cx="642518" cy="687237"/>
          </a:xfrm>
          <a:custGeom>
            <a:avLst/>
            <a:gdLst/>
            <a:ahLst/>
            <a:cxnLst/>
            <a:rect l="l" t="t" r="r" b="b"/>
            <a:pathLst>
              <a:path w="642518" h="687237">
                <a:moveTo>
                  <a:pt x="0" y="0"/>
                </a:moveTo>
                <a:lnTo>
                  <a:pt x="642517" y="0"/>
                </a:lnTo>
                <a:lnTo>
                  <a:pt x="642517" y="687237"/>
                </a:lnTo>
                <a:lnTo>
                  <a:pt x="0" y="687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0F047B7-428E-BF8D-5DC1-978FDD17421F}"/>
              </a:ext>
            </a:extLst>
          </p:cNvPr>
          <p:cNvSpPr txBox="1">
            <a:spLocks/>
          </p:cNvSpPr>
          <p:nvPr/>
        </p:nvSpPr>
        <p:spPr>
          <a:xfrm>
            <a:off x="838200" y="1181100"/>
            <a:ext cx="10515600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</a:rPr>
              <a:t>Conteúdos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</a:rPr>
              <a:t>desta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</a:rPr>
              <a:t>apresentação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A9DCF85-1236-305A-E1E7-74B7B3ED5EA7}"/>
              </a:ext>
            </a:extLst>
          </p:cNvPr>
          <p:cNvSpPr txBox="1">
            <a:spLocks/>
          </p:cNvSpPr>
          <p:nvPr/>
        </p:nvSpPr>
        <p:spPr>
          <a:xfrm>
            <a:off x="11734800" y="4556651"/>
            <a:ext cx="4762500" cy="1173697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1667"/>
              </a:lnSpc>
              <a:spcAft>
                <a:spcPts val="11004"/>
              </a:spcAft>
              <a:buNone/>
            </a:pPr>
            <a:r>
              <a:rPr lang="pt-BR" sz="4400" dirty="0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Deixem um star </a:t>
            </a:r>
            <a:r>
              <a:rPr lang="pt-BR" sz="4400" dirty="0">
                <a:solidFill>
                  <a:schemeClr val="tx1">
                    <a:lumMod val="75000"/>
                  </a:schemeClr>
                </a:solidFill>
                <a:latin typeface="Maven Pro Regular" pitchFamily="34" charset="0"/>
                <a:cs typeface="Maven Pro Regular" pitchFamily="34" charset="-120"/>
              </a:rPr>
              <a:t>⭐</a:t>
            </a:r>
            <a:r>
              <a:rPr lang="pt-BR" sz="4400" dirty="0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 </a:t>
            </a:r>
            <a:r>
              <a:rPr lang="en-US" sz="4400" dirty="0" err="1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apoiando</a:t>
            </a:r>
            <a:endParaRPr lang="pt-BR" sz="4400" dirty="0">
              <a:solidFill>
                <a:schemeClr val="tx1">
                  <a:lumMod val="75000"/>
                </a:schemeClr>
              </a:solidFill>
              <a:latin typeface="Maven Pro Black" pitchFamily="2" charset="77"/>
              <a:cs typeface="Maven Pro Regular" pitchFamily="34" charset="-12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4AD2ADDF-00A8-21BC-6DC7-70287A7ABD8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2750" y="2374328"/>
            <a:ext cx="4762500" cy="4762500"/>
          </a:xfrm>
          <a:prstGeom prst="rect">
            <a:avLst/>
          </a:prstGeom>
        </p:spPr>
      </p:pic>
      <p:sp>
        <p:nvSpPr>
          <p:cNvPr id="11" name="Espaço Reservado para Texto 2">
            <a:extLst>
              <a:ext uri="{FF2B5EF4-FFF2-40B4-BE49-F238E27FC236}">
                <a16:creationId xmlns:a16="http://schemas.microsoft.com/office/drawing/2014/main" id="{44DD918B-E205-349D-73D5-2F0DC1F0B8CA}"/>
              </a:ext>
            </a:extLst>
          </p:cNvPr>
          <p:cNvSpPr>
            <a:spLocks noGrp="1"/>
          </p:cNvSpPr>
          <p:nvPr/>
        </p:nvSpPr>
        <p:spPr>
          <a:xfrm>
            <a:off x="1066800" y="7654139"/>
            <a:ext cx="16306800" cy="683264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txBody>
          <a:bodyPr vert="horz" wrap="square" lIns="146304" tIns="91440" rIns="146304" bIns="9144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4000" kern="1200" spc="0" baseline="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2286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4572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6858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3600" b="1" dirty="0">
                <a:solidFill>
                  <a:schemeClr val="bg1"/>
                </a:solidFill>
              </a:rPr>
              <a:t>github.com/renatogroffe/produtividade-ias-mcps_mvpconf-sorocaba-2026-06</a:t>
            </a:r>
          </a:p>
        </p:txBody>
      </p:sp>
    </p:spTree>
    <p:extLst>
      <p:ext uri="{BB962C8B-B14F-4D97-AF65-F5344CB8AC3E}">
        <p14:creationId xmlns:p14="http://schemas.microsoft.com/office/powerpoint/2010/main" val="3811282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189D1-FA87-F49C-52B8-3947DF442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6017830-9B75-C1B5-8DAA-3913C86282D0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>
              <a:extLst>
                <a:ext uri="{FF2B5EF4-FFF2-40B4-BE49-F238E27FC236}">
                  <a16:creationId xmlns:a16="http://schemas.microsoft.com/office/drawing/2014/main" id="{37F3A409-A13B-A6C2-07B9-72014B64E1FD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 sz="2000"/>
            </a:p>
          </p:txBody>
        </p:sp>
      </p:grpSp>
      <p:sp>
        <p:nvSpPr>
          <p:cNvPr id="4" name="Freeform 4">
            <a:extLst>
              <a:ext uri="{FF2B5EF4-FFF2-40B4-BE49-F238E27FC236}">
                <a16:creationId xmlns:a16="http://schemas.microsoft.com/office/drawing/2014/main" id="{887798A2-84C7-83D9-9828-14473279934D}"/>
              </a:ext>
            </a:extLst>
          </p:cNvPr>
          <p:cNvSpPr/>
          <p:nvPr/>
        </p:nvSpPr>
        <p:spPr>
          <a:xfrm>
            <a:off x="15627693" y="461626"/>
            <a:ext cx="642518" cy="687237"/>
          </a:xfrm>
          <a:custGeom>
            <a:avLst/>
            <a:gdLst/>
            <a:ahLst/>
            <a:cxnLst/>
            <a:rect l="l" t="t" r="r" b="b"/>
            <a:pathLst>
              <a:path w="642518" h="687237">
                <a:moveTo>
                  <a:pt x="0" y="0"/>
                </a:moveTo>
                <a:lnTo>
                  <a:pt x="642517" y="0"/>
                </a:lnTo>
                <a:lnTo>
                  <a:pt x="642517" y="687237"/>
                </a:lnTo>
                <a:lnTo>
                  <a:pt x="0" y="687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E597CEA-9303-C59A-0180-2602F05FCA7C}"/>
              </a:ext>
            </a:extLst>
          </p:cNvPr>
          <p:cNvSpPr txBox="1">
            <a:spLocks/>
          </p:cNvSpPr>
          <p:nvPr/>
        </p:nvSpPr>
        <p:spPr>
          <a:xfrm>
            <a:off x="838200" y="1181100"/>
            <a:ext cx="10515600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800" dirty="0">
                <a:latin typeface="Roboto" panose="02000000000000000000" pitchFamily="2" charset="0"/>
                <a:ea typeface="Roboto" panose="02000000000000000000" pitchFamily="2" charset="0"/>
              </a:rPr>
              <a:t>Agenda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F92E737-2490-AAC1-5387-6FD2191AE28B}"/>
              </a:ext>
            </a:extLst>
          </p:cNvPr>
          <p:cNvSpPr txBox="1">
            <a:spLocks/>
          </p:cNvSpPr>
          <p:nvPr/>
        </p:nvSpPr>
        <p:spPr>
          <a:xfrm>
            <a:off x="776841" y="2374328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4000" dirty="0"/>
              <a:t>MCP: uma visão geral</a:t>
            </a:r>
          </a:p>
          <a:p>
            <a:r>
              <a:rPr lang="pt-BR" sz="4000" dirty="0"/>
              <a:t>MCP Servers + Produtividade com Bancos de Dados</a:t>
            </a:r>
          </a:p>
          <a:p>
            <a:r>
              <a:rPr lang="pt-BR" sz="4000" dirty="0"/>
              <a:t>Exemplos práticos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9" name="Imagem 8" descr="Ícone&#10;&#10;O conteúdo gerado por IA pode estar incorreto.">
            <a:extLst>
              <a:ext uri="{FF2B5EF4-FFF2-40B4-BE49-F238E27FC236}">
                <a16:creationId xmlns:a16="http://schemas.microsoft.com/office/drawing/2014/main" id="{F73890E5-4814-91B7-C0AC-73D2FC643564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-10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080557" y="5448300"/>
            <a:ext cx="3441085" cy="3441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7635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Freeform 4"/>
          <p:cNvSpPr/>
          <p:nvPr/>
        </p:nvSpPr>
        <p:spPr>
          <a:xfrm>
            <a:off x="13722693" y="461626"/>
            <a:ext cx="642518" cy="687237"/>
          </a:xfrm>
          <a:custGeom>
            <a:avLst/>
            <a:gdLst/>
            <a:ahLst/>
            <a:cxnLst/>
            <a:rect l="l" t="t" r="r" b="b"/>
            <a:pathLst>
              <a:path w="642518" h="687237">
                <a:moveTo>
                  <a:pt x="0" y="0"/>
                </a:moveTo>
                <a:lnTo>
                  <a:pt x="642517" y="0"/>
                </a:lnTo>
                <a:lnTo>
                  <a:pt x="642517" y="687237"/>
                </a:lnTo>
                <a:lnTo>
                  <a:pt x="0" y="687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46323EA-97BD-686C-3154-4D12411C1312}"/>
              </a:ext>
            </a:extLst>
          </p:cNvPr>
          <p:cNvSpPr txBox="1">
            <a:spLocks/>
          </p:cNvSpPr>
          <p:nvPr/>
        </p:nvSpPr>
        <p:spPr>
          <a:xfrm>
            <a:off x="914399" y="2733974"/>
            <a:ext cx="11518583" cy="599092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 dirty="0"/>
              <a:t>Model </a:t>
            </a:r>
            <a:r>
              <a:rPr lang="pt-BR" b="1" dirty="0" err="1"/>
              <a:t>Context</a:t>
            </a:r>
            <a:r>
              <a:rPr lang="pt-BR" b="1" dirty="0"/>
              <a:t> </a:t>
            </a:r>
            <a:r>
              <a:rPr lang="pt-BR" b="1" dirty="0" err="1"/>
              <a:t>Protocol</a:t>
            </a:r>
            <a:endParaRPr lang="pt-BR" b="1" dirty="0"/>
          </a:p>
          <a:p>
            <a:endParaRPr lang="pt-BR" sz="3800" dirty="0"/>
          </a:p>
          <a:p>
            <a:r>
              <a:rPr lang="pt-BR" dirty="0"/>
              <a:t>Anunciado pela </a:t>
            </a:r>
            <a:r>
              <a:rPr lang="pt-BR" b="1" dirty="0" err="1"/>
              <a:t>Anthropic</a:t>
            </a:r>
            <a:r>
              <a:rPr lang="pt-BR" b="1" dirty="0"/>
              <a:t> </a:t>
            </a:r>
            <a:r>
              <a:rPr lang="pt-BR" dirty="0"/>
              <a:t>em </a:t>
            </a:r>
            <a:r>
              <a:rPr lang="pt-BR" b="1" dirty="0"/>
              <a:t>Novembro/2024</a:t>
            </a:r>
          </a:p>
          <a:p>
            <a:endParaRPr lang="pt-BR" dirty="0"/>
          </a:p>
          <a:p>
            <a:r>
              <a:rPr lang="pt-BR" dirty="0"/>
              <a:t>Passagem oficial do projeto </a:t>
            </a:r>
            <a:r>
              <a:rPr lang="pt-BR" b="1" dirty="0"/>
              <a:t>MCP</a:t>
            </a:r>
            <a:r>
              <a:rPr lang="pt-BR" dirty="0"/>
              <a:t> para a administração da </a:t>
            </a:r>
            <a:r>
              <a:rPr lang="pt-BR" b="1" dirty="0"/>
              <a:t>Linux Foundation</a:t>
            </a:r>
            <a:r>
              <a:rPr lang="pt-BR" dirty="0"/>
              <a:t>, via </a:t>
            </a:r>
            <a:r>
              <a:rPr lang="pt-BR" b="1" dirty="0" err="1"/>
              <a:t>Agentic</a:t>
            </a:r>
            <a:r>
              <a:rPr lang="pt-BR" b="1" dirty="0"/>
              <a:t> AI Foundation (AAIF)</a:t>
            </a:r>
            <a:r>
              <a:rPr lang="pt-BR" dirty="0"/>
              <a:t> em </a:t>
            </a:r>
            <a:r>
              <a:rPr lang="pt-BR" b="1" dirty="0"/>
              <a:t>Dezembro/2025</a:t>
            </a:r>
          </a:p>
          <a:p>
            <a:endParaRPr lang="pt-BR" dirty="0"/>
          </a:p>
          <a:p>
            <a:r>
              <a:rPr lang="pt-BR" dirty="0"/>
              <a:t>Uma </a:t>
            </a:r>
            <a:r>
              <a:rPr lang="pt-BR" b="1" dirty="0"/>
              <a:t>padronização </a:t>
            </a:r>
            <a:r>
              <a:rPr lang="pt-BR" dirty="0"/>
              <a:t>para simplificar a integração das mais variadas soluções com modelos de Inteligência Artificial</a:t>
            </a:r>
            <a:endParaRPr lang="en-US" dirty="0"/>
          </a:p>
        </p:txBody>
      </p:sp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14B58832-BD08-1846-8A01-AE709CAF2588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-10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51657" y="3620603"/>
            <a:ext cx="2108833" cy="2108833"/>
          </a:xfrm>
          <a:prstGeom prst="rect">
            <a:avLst/>
          </a:prstGeom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D1550A9E-531B-1377-3620-F31988369C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41210" y="6555581"/>
            <a:ext cx="3048001" cy="1026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66CF9C93-A593-5150-230B-3D708DC603F6}"/>
              </a:ext>
            </a:extLst>
          </p:cNvPr>
          <p:cNvSpPr txBox="1">
            <a:spLocks/>
          </p:cNvSpPr>
          <p:nvPr/>
        </p:nvSpPr>
        <p:spPr>
          <a:xfrm>
            <a:off x="838200" y="1181100"/>
            <a:ext cx="10515600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800" dirty="0">
                <a:latin typeface="Roboto" panose="02000000000000000000" pitchFamily="2" charset="0"/>
                <a:ea typeface="Roboto" panose="02000000000000000000" pitchFamily="2" charset="0"/>
              </a:rPr>
              <a:t>MCP: </a:t>
            </a:r>
            <a:r>
              <a:rPr lang="en-US" sz="4800" dirty="0" err="1">
                <a:latin typeface="Roboto" panose="02000000000000000000" pitchFamily="2" charset="0"/>
                <a:ea typeface="Roboto" panose="02000000000000000000" pitchFamily="2" charset="0"/>
              </a:rPr>
              <a:t>uma</a:t>
            </a:r>
            <a:r>
              <a:rPr lang="en-US" sz="48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4800" dirty="0" err="1">
                <a:latin typeface="Roboto" panose="02000000000000000000" pitchFamily="2" charset="0"/>
                <a:ea typeface="Roboto" panose="02000000000000000000" pitchFamily="2" charset="0"/>
              </a:rPr>
              <a:t>visão</a:t>
            </a:r>
            <a:r>
              <a:rPr lang="en-US" sz="48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4800" dirty="0" err="1">
                <a:latin typeface="Roboto" panose="02000000000000000000" pitchFamily="2" charset="0"/>
                <a:ea typeface="Roboto" panose="02000000000000000000" pitchFamily="2" charset="0"/>
              </a:rPr>
              <a:t>geral</a:t>
            </a:r>
            <a:endParaRPr lang="en-US" sz="4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C69AD-A94B-169D-AA91-BEF351C5A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EE5529B-CFEF-D58C-24EA-FA483DCC02F0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>
              <a:extLst>
                <a:ext uri="{FF2B5EF4-FFF2-40B4-BE49-F238E27FC236}">
                  <a16:creationId xmlns:a16="http://schemas.microsoft.com/office/drawing/2014/main" id="{6037BEFB-F210-3292-48C5-31C02BB28A0B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Freeform 4">
            <a:extLst>
              <a:ext uri="{FF2B5EF4-FFF2-40B4-BE49-F238E27FC236}">
                <a16:creationId xmlns:a16="http://schemas.microsoft.com/office/drawing/2014/main" id="{0CD158A8-A7D4-8622-E204-24C1B60D76D4}"/>
              </a:ext>
            </a:extLst>
          </p:cNvPr>
          <p:cNvSpPr/>
          <p:nvPr/>
        </p:nvSpPr>
        <p:spPr>
          <a:xfrm>
            <a:off x="13722693" y="461626"/>
            <a:ext cx="642518" cy="687237"/>
          </a:xfrm>
          <a:custGeom>
            <a:avLst/>
            <a:gdLst/>
            <a:ahLst/>
            <a:cxnLst/>
            <a:rect l="l" t="t" r="r" b="b"/>
            <a:pathLst>
              <a:path w="642518" h="687237">
                <a:moveTo>
                  <a:pt x="0" y="0"/>
                </a:moveTo>
                <a:lnTo>
                  <a:pt x="642517" y="0"/>
                </a:lnTo>
                <a:lnTo>
                  <a:pt x="642517" y="687237"/>
                </a:lnTo>
                <a:lnTo>
                  <a:pt x="0" y="687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E40D8D5-D1D9-35A3-8780-C9057103EA66}"/>
              </a:ext>
            </a:extLst>
          </p:cNvPr>
          <p:cNvSpPr txBox="1">
            <a:spLocks/>
          </p:cNvSpPr>
          <p:nvPr/>
        </p:nvSpPr>
        <p:spPr>
          <a:xfrm>
            <a:off x="914399" y="2733974"/>
            <a:ext cx="11518583" cy="599092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3600" dirty="0"/>
              <a:t>Analogia com uma </a:t>
            </a:r>
            <a:r>
              <a:rPr lang="pt-BR" sz="3600" b="1" dirty="0"/>
              <a:t>"porta USB"</a:t>
            </a:r>
          </a:p>
          <a:p>
            <a:endParaRPr lang="pt-BR" sz="3600" dirty="0"/>
          </a:p>
          <a:p>
            <a:r>
              <a:rPr lang="pt-BR" sz="3600" b="1" dirty="0"/>
              <a:t>Protocolo aberto </a:t>
            </a:r>
            <a:r>
              <a:rPr lang="pt-BR" sz="3600" dirty="0"/>
              <a:t>que enfatiza </a:t>
            </a:r>
            <a:r>
              <a:rPr lang="pt-BR" sz="3600" b="1" dirty="0"/>
              <a:t>flexibilidade</a:t>
            </a:r>
          </a:p>
          <a:p>
            <a:endParaRPr lang="pt-BR" sz="3600" dirty="0"/>
          </a:p>
          <a:p>
            <a:r>
              <a:rPr lang="pt-BR" sz="3600" dirty="0"/>
              <a:t>Comunicação via </a:t>
            </a:r>
            <a:r>
              <a:rPr lang="pt-BR" sz="3600" b="1" dirty="0"/>
              <a:t>STDIO x HTTP/</a:t>
            </a:r>
            <a:r>
              <a:rPr lang="pt-BR" sz="3600" b="1" dirty="0" err="1"/>
              <a:t>Streams</a:t>
            </a:r>
            <a:endParaRPr lang="pt-BR" sz="3600" b="1" dirty="0"/>
          </a:p>
          <a:p>
            <a:endParaRPr lang="pt-BR" sz="3600" dirty="0"/>
          </a:p>
          <a:p>
            <a:r>
              <a:rPr lang="pt-BR" sz="3600" dirty="0"/>
              <a:t>Suporte a desenvolvimento nas principais </a:t>
            </a:r>
            <a:r>
              <a:rPr lang="pt-BR" sz="3600" dirty="0" err="1"/>
              <a:t>stacks</a:t>
            </a:r>
            <a:r>
              <a:rPr lang="pt-BR" sz="3600" dirty="0"/>
              <a:t>: </a:t>
            </a:r>
            <a:r>
              <a:rPr lang="pt-BR" sz="3600" b="1" dirty="0"/>
              <a:t>.NET, Java, Node/</a:t>
            </a:r>
            <a:r>
              <a:rPr lang="pt-BR" sz="3600" b="1" dirty="0" err="1"/>
              <a:t>Typescript</a:t>
            </a:r>
            <a:r>
              <a:rPr lang="pt-BR" sz="3600" b="1" dirty="0"/>
              <a:t>, Python, Go, Swift, </a:t>
            </a:r>
            <a:r>
              <a:rPr lang="pt-BR" sz="3600" b="1" dirty="0" err="1"/>
              <a:t>Kotlin</a:t>
            </a:r>
            <a:r>
              <a:rPr lang="pt-BR" sz="3600" b="1" dirty="0"/>
              <a:t>, Ruby...</a:t>
            </a:r>
          </a:p>
        </p:txBody>
      </p:sp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28FA407B-D812-7A98-75B5-25B45358D39A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-10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292964" y="3238500"/>
            <a:ext cx="3505200" cy="35052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06EE0335-EEAD-C1A8-9DA0-1DD4B13B237A}"/>
              </a:ext>
            </a:extLst>
          </p:cNvPr>
          <p:cNvSpPr txBox="1">
            <a:spLocks/>
          </p:cNvSpPr>
          <p:nvPr/>
        </p:nvSpPr>
        <p:spPr>
          <a:xfrm>
            <a:off x="838200" y="1181100"/>
            <a:ext cx="10515600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800" dirty="0">
                <a:latin typeface="Roboto" panose="02000000000000000000" pitchFamily="2" charset="0"/>
                <a:ea typeface="Roboto" panose="02000000000000000000" pitchFamily="2" charset="0"/>
              </a:rPr>
              <a:t>MCP: </a:t>
            </a:r>
            <a:r>
              <a:rPr lang="en-US" sz="4800" dirty="0" err="1">
                <a:latin typeface="Roboto" panose="02000000000000000000" pitchFamily="2" charset="0"/>
                <a:ea typeface="Roboto" panose="02000000000000000000" pitchFamily="2" charset="0"/>
              </a:rPr>
              <a:t>uma</a:t>
            </a:r>
            <a:r>
              <a:rPr lang="en-US" sz="48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4800" dirty="0" err="1">
                <a:latin typeface="Roboto" panose="02000000000000000000" pitchFamily="2" charset="0"/>
                <a:ea typeface="Roboto" panose="02000000000000000000" pitchFamily="2" charset="0"/>
              </a:rPr>
              <a:t>visão</a:t>
            </a:r>
            <a:r>
              <a:rPr lang="en-US" sz="48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4800" dirty="0" err="1">
                <a:latin typeface="Roboto" panose="02000000000000000000" pitchFamily="2" charset="0"/>
                <a:ea typeface="Roboto" panose="02000000000000000000" pitchFamily="2" charset="0"/>
              </a:rPr>
              <a:t>geral</a:t>
            </a:r>
            <a:endParaRPr lang="en-US" sz="4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60452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6A22F-AFA6-562A-19E5-A87B7D7E6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F78723D-6B6B-7505-F9B6-A143EA10F415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>
              <a:extLst>
                <a:ext uri="{FF2B5EF4-FFF2-40B4-BE49-F238E27FC236}">
                  <a16:creationId xmlns:a16="http://schemas.microsoft.com/office/drawing/2014/main" id="{DDE22A41-F165-2A0C-7A9B-5354424A9B0F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Freeform 4">
            <a:extLst>
              <a:ext uri="{FF2B5EF4-FFF2-40B4-BE49-F238E27FC236}">
                <a16:creationId xmlns:a16="http://schemas.microsoft.com/office/drawing/2014/main" id="{1CBEC0B0-16DB-7AE8-DF74-98C31541A3F8}"/>
              </a:ext>
            </a:extLst>
          </p:cNvPr>
          <p:cNvSpPr/>
          <p:nvPr/>
        </p:nvSpPr>
        <p:spPr>
          <a:xfrm>
            <a:off x="13722693" y="461626"/>
            <a:ext cx="642518" cy="687237"/>
          </a:xfrm>
          <a:custGeom>
            <a:avLst/>
            <a:gdLst/>
            <a:ahLst/>
            <a:cxnLst/>
            <a:rect l="l" t="t" r="r" b="b"/>
            <a:pathLst>
              <a:path w="642518" h="687237">
                <a:moveTo>
                  <a:pt x="0" y="0"/>
                </a:moveTo>
                <a:lnTo>
                  <a:pt x="642517" y="0"/>
                </a:lnTo>
                <a:lnTo>
                  <a:pt x="642517" y="687237"/>
                </a:lnTo>
                <a:lnTo>
                  <a:pt x="0" y="687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EE6B633-99DD-D407-5B52-1ECA331FF78C}"/>
              </a:ext>
            </a:extLst>
          </p:cNvPr>
          <p:cNvSpPr txBox="1">
            <a:spLocks/>
          </p:cNvSpPr>
          <p:nvPr/>
        </p:nvSpPr>
        <p:spPr>
          <a:xfrm>
            <a:off x="914399" y="2056172"/>
            <a:ext cx="8200161" cy="74676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3600" b="1" dirty="0" err="1"/>
              <a:t>MCPs</a:t>
            </a:r>
            <a:r>
              <a:rPr lang="pt-BR" sz="3600" b="1" dirty="0"/>
              <a:t> Servers </a:t>
            </a:r>
            <a:r>
              <a:rPr lang="pt-BR" sz="3600" dirty="0"/>
              <a:t>costumam ser distribuídos como </a:t>
            </a:r>
            <a:r>
              <a:rPr lang="pt-BR" sz="3600" b="1" dirty="0" err="1"/>
              <a:t>packages</a:t>
            </a:r>
            <a:r>
              <a:rPr lang="pt-BR" sz="3600" b="1" dirty="0"/>
              <a:t> (</a:t>
            </a:r>
            <a:r>
              <a:rPr lang="pt-BR" sz="3600" b="1" dirty="0" err="1"/>
              <a:t>npm</a:t>
            </a:r>
            <a:r>
              <a:rPr lang="pt-BR" sz="3600" b="1" dirty="0"/>
              <a:t>, </a:t>
            </a:r>
            <a:r>
              <a:rPr lang="pt-BR" sz="3600" b="1" dirty="0" err="1"/>
              <a:t>NuGet</a:t>
            </a:r>
            <a:r>
              <a:rPr lang="pt-BR" sz="3600" b="1" dirty="0"/>
              <a:t>...)</a:t>
            </a:r>
            <a:r>
              <a:rPr lang="pt-BR" sz="3600" dirty="0"/>
              <a:t> ou imagens </a:t>
            </a:r>
            <a:r>
              <a:rPr lang="pt-BR" sz="3600" b="1" dirty="0"/>
              <a:t>Docker</a:t>
            </a:r>
          </a:p>
          <a:p>
            <a:endParaRPr lang="pt-BR" sz="3600" dirty="0"/>
          </a:p>
          <a:p>
            <a:r>
              <a:rPr lang="pt-BR" sz="3600" dirty="0"/>
              <a:t>Há a possibilidade de uso também de executáveis</a:t>
            </a:r>
          </a:p>
          <a:p>
            <a:endParaRPr lang="pt-BR" sz="3600" dirty="0"/>
          </a:p>
          <a:p>
            <a:r>
              <a:rPr lang="pt-BR" sz="3600" dirty="0"/>
              <a:t>Fácil integração com </a:t>
            </a:r>
            <a:r>
              <a:rPr lang="pt-BR" sz="3600" b="1" dirty="0"/>
              <a:t>Visual Studio </a:t>
            </a:r>
            <a:r>
              <a:rPr lang="pt-BR" sz="3600" b="1" dirty="0" err="1"/>
              <a:t>Code</a:t>
            </a:r>
            <a:r>
              <a:rPr lang="pt-BR" sz="3600" b="1" dirty="0"/>
              <a:t>/GitHub </a:t>
            </a:r>
            <a:r>
              <a:rPr lang="pt-BR" sz="3600" b="1" dirty="0" err="1"/>
              <a:t>Copilot</a:t>
            </a:r>
            <a:r>
              <a:rPr lang="pt-BR" sz="3600" dirty="0"/>
              <a:t>, </a:t>
            </a:r>
            <a:r>
              <a:rPr lang="pt-BR" sz="3600" b="1" dirty="0"/>
              <a:t>Claude </a:t>
            </a:r>
            <a:r>
              <a:rPr lang="pt-BR" sz="3600" dirty="0"/>
              <a:t>e outras soluções de IA que ofereçam funcionalidades de chat/</a:t>
            </a:r>
            <a:r>
              <a:rPr lang="pt-BR" sz="3600" dirty="0" err="1"/>
              <a:t>agents</a:t>
            </a:r>
            <a:r>
              <a:rPr lang="pt-BR" sz="3600" dirty="0"/>
              <a:t> (como </a:t>
            </a:r>
            <a:r>
              <a:rPr lang="pt-BR" sz="3600" b="1" dirty="0"/>
              <a:t>Microsoft Agent Framework</a:t>
            </a:r>
            <a:r>
              <a:rPr lang="pt-BR" sz="3600" dirty="0"/>
              <a:t>)</a:t>
            </a:r>
            <a:endParaRPr lang="pt-BR" sz="3600" b="1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13F1477-6250-73CA-BA20-42AD215FA3FC}"/>
              </a:ext>
            </a:extLst>
          </p:cNvPr>
          <p:cNvSpPr txBox="1">
            <a:spLocks/>
          </p:cNvSpPr>
          <p:nvPr/>
        </p:nvSpPr>
        <p:spPr>
          <a:xfrm>
            <a:off x="838200" y="723900"/>
            <a:ext cx="10515600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800" dirty="0">
                <a:latin typeface="Roboto" panose="02000000000000000000" pitchFamily="2" charset="0"/>
                <a:ea typeface="Roboto" panose="02000000000000000000" pitchFamily="2" charset="0"/>
              </a:rPr>
              <a:t>MCP: </a:t>
            </a:r>
            <a:r>
              <a:rPr lang="en-US" sz="4800" dirty="0" err="1">
                <a:latin typeface="Roboto" panose="02000000000000000000" pitchFamily="2" charset="0"/>
                <a:ea typeface="Roboto" panose="02000000000000000000" pitchFamily="2" charset="0"/>
              </a:rPr>
              <a:t>uma</a:t>
            </a:r>
            <a:r>
              <a:rPr lang="en-US" sz="48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4800" dirty="0" err="1">
                <a:latin typeface="Roboto" panose="02000000000000000000" pitchFamily="2" charset="0"/>
                <a:ea typeface="Roboto" panose="02000000000000000000" pitchFamily="2" charset="0"/>
              </a:rPr>
              <a:t>visão</a:t>
            </a:r>
            <a:r>
              <a:rPr lang="en-US" sz="48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4800" dirty="0" err="1">
                <a:latin typeface="Roboto" panose="02000000000000000000" pitchFamily="2" charset="0"/>
                <a:ea typeface="Roboto" panose="02000000000000000000" pitchFamily="2" charset="0"/>
              </a:rPr>
              <a:t>geral</a:t>
            </a:r>
            <a:endParaRPr lang="en-US" sz="4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8" name="Imagem 7" descr="Ícone&#10;&#10;O conteúdo gerado por IA pode estar incorreto.">
            <a:extLst>
              <a:ext uri="{FF2B5EF4-FFF2-40B4-BE49-F238E27FC236}">
                <a16:creationId xmlns:a16="http://schemas.microsoft.com/office/drawing/2014/main" id="{9484FEED-5525-790D-7FC1-267A28AA6B0A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-10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200132" y="1485900"/>
            <a:ext cx="3063595" cy="3063595"/>
          </a:xfrm>
          <a:prstGeom prst="rect">
            <a:avLst/>
          </a:prstGeom>
        </p:spPr>
      </p:pic>
      <p:pic>
        <p:nvPicPr>
          <p:cNvPr id="11" name="Imagem 10" descr="Ícone&#10;&#10;Descrição gerada automaticamente">
            <a:extLst>
              <a:ext uri="{FF2B5EF4-FFF2-40B4-BE49-F238E27FC236}">
                <a16:creationId xmlns:a16="http://schemas.microsoft.com/office/drawing/2014/main" id="{30AD3E43-3817-43DA-F6B7-594A858810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9739" y="6737599"/>
            <a:ext cx="1894136" cy="1894136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E9ADEA93-65BE-E0ED-F0B1-024D72CB0093}"/>
              </a:ext>
            </a:extLst>
          </p:cNvPr>
          <p:cNvPicPr>
            <a:picLocks noChangeAspect="1"/>
          </p:cNvPicPr>
          <p:nvPr/>
        </p:nvPicPr>
        <p:blipFill>
          <a:blip>
            <a:lum bright="-20000" contrast="40000"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872311" y="6838913"/>
            <a:ext cx="2282089" cy="1894134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9D4231B0-D5F2-E6AE-36F5-90467F99C8BC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5233" y="6155870"/>
            <a:ext cx="3061330" cy="3061330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053A9CCB-4BA9-4C28-1997-1278208317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306441" y="4558962"/>
            <a:ext cx="2398603" cy="1894136"/>
          </a:xfrm>
          <a:prstGeom prst="rect">
            <a:avLst/>
          </a:prstGeom>
        </p:spPr>
      </p:pic>
      <p:pic>
        <p:nvPicPr>
          <p:cNvPr id="19" name="Gráfico 18">
            <a:extLst>
              <a:ext uri="{FF2B5EF4-FFF2-40B4-BE49-F238E27FC236}">
                <a16:creationId xmlns:a16="http://schemas.microsoft.com/office/drawing/2014/main" id="{D9948B33-DFB4-1586-06AB-3A1D2ACCF1BF}"/>
              </a:ext>
            </a:extLst>
          </p:cNvPr>
          <p:cNvPicPr>
            <a:picLocks noChangeAspect="1"/>
          </p:cNvPicPr>
          <p:nvPr/>
        </p:nvPicPr>
        <p:blipFill>
          <a:blip>
            <a:lum bright="33000" contrast="87000"/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582136" y="4550856"/>
            <a:ext cx="1907523" cy="1907523"/>
          </a:xfrm>
          <a:prstGeom prst="rect">
            <a:avLst/>
          </a:prstGeom>
        </p:spPr>
      </p:pic>
      <p:pic>
        <p:nvPicPr>
          <p:cNvPr id="21" name="Gráfico 20">
            <a:extLst>
              <a:ext uri="{FF2B5EF4-FFF2-40B4-BE49-F238E27FC236}">
                <a16:creationId xmlns:a16="http://schemas.microsoft.com/office/drawing/2014/main" id="{602CA150-7A4D-ECA8-C123-19BB311526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3881787" y="4417145"/>
            <a:ext cx="2272613" cy="2272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583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97958-FF76-A578-0B2E-DAEE56195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518EE9D-EA30-23FA-296E-C722E986B5CF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>
              <a:extLst>
                <a:ext uri="{FF2B5EF4-FFF2-40B4-BE49-F238E27FC236}">
                  <a16:creationId xmlns:a16="http://schemas.microsoft.com/office/drawing/2014/main" id="{976E673B-BCC4-F8C8-BBC4-B0D9ED0DBB95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Freeform 4">
            <a:extLst>
              <a:ext uri="{FF2B5EF4-FFF2-40B4-BE49-F238E27FC236}">
                <a16:creationId xmlns:a16="http://schemas.microsoft.com/office/drawing/2014/main" id="{A6E2C394-50B6-B683-E520-12614E90B4FF}"/>
              </a:ext>
            </a:extLst>
          </p:cNvPr>
          <p:cNvSpPr/>
          <p:nvPr/>
        </p:nvSpPr>
        <p:spPr>
          <a:xfrm>
            <a:off x="13722693" y="461626"/>
            <a:ext cx="642518" cy="687237"/>
          </a:xfrm>
          <a:custGeom>
            <a:avLst/>
            <a:gdLst/>
            <a:ahLst/>
            <a:cxnLst/>
            <a:rect l="l" t="t" r="r" b="b"/>
            <a:pathLst>
              <a:path w="642518" h="687237">
                <a:moveTo>
                  <a:pt x="0" y="0"/>
                </a:moveTo>
                <a:lnTo>
                  <a:pt x="642517" y="0"/>
                </a:lnTo>
                <a:lnTo>
                  <a:pt x="642517" y="687237"/>
                </a:lnTo>
                <a:lnTo>
                  <a:pt x="0" y="687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B4489EE-F655-BCA6-6328-5B894FAED24E}"/>
              </a:ext>
            </a:extLst>
          </p:cNvPr>
          <p:cNvSpPr txBox="1">
            <a:spLocks/>
          </p:cNvSpPr>
          <p:nvPr/>
        </p:nvSpPr>
        <p:spPr>
          <a:xfrm>
            <a:off x="914399" y="2733974"/>
            <a:ext cx="10210801" cy="5990925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3600" dirty="0"/>
              <a:t>A combinação </a:t>
            </a:r>
            <a:r>
              <a:rPr lang="pt-BR" sz="3600" b="1" dirty="0" err="1"/>
              <a:t>Agents</a:t>
            </a:r>
            <a:r>
              <a:rPr lang="pt-BR" sz="3600" b="1" dirty="0"/>
              <a:t> + </a:t>
            </a:r>
            <a:r>
              <a:rPr lang="pt-BR" sz="3600" b="1" dirty="0" err="1"/>
              <a:t>MCPs</a:t>
            </a:r>
            <a:r>
              <a:rPr lang="pt-BR" sz="3600" b="1" dirty="0"/>
              <a:t> </a:t>
            </a:r>
            <a:r>
              <a:rPr lang="pt-BR" sz="3600" dirty="0"/>
              <a:t>pode ser de grande valia</a:t>
            </a:r>
          </a:p>
          <a:p>
            <a:endParaRPr lang="pt-BR" sz="3600" dirty="0"/>
          </a:p>
          <a:p>
            <a:r>
              <a:rPr lang="pt-BR" sz="3600" dirty="0"/>
              <a:t>Tarefas podem ser simplificadas numa </a:t>
            </a:r>
            <a:r>
              <a:rPr lang="pt-BR" sz="3600" b="1" dirty="0"/>
              <a:t>IDE </a:t>
            </a:r>
            <a:r>
              <a:rPr lang="pt-BR" sz="3600" dirty="0"/>
              <a:t>ou </a:t>
            </a:r>
            <a:r>
              <a:rPr lang="pt-BR" sz="3600" b="1" dirty="0"/>
              <a:t>ferramenta de edição de código</a:t>
            </a:r>
          </a:p>
          <a:p>
            <a:endParaRPr lang="pt-BR" sz="3600" dirty="0"/>
          </a:p>
          <a:p>
            <a:r>
              <a:rPr lang="pt-BR" sz="3600" b="1" dirty="0"/>
              <a:t>Redução de esforços</a:t>
            </a:r>
          </a:p>
          <a:p>
            <a:endParaRPr lang="pt-BR" sz="3600" dirty="0"/>
          </a:p>
          <a:p>
            <a:r>
              <a:rPr lang="pt-BR" sz="3600" dirty="0"/>
              <a:t>Extensões do </a:t>
            </a:r>
            <a:r>
              <a:rPr lang="pt-BR" sz="3600" b="1" dirty="0"/>
              <a:t>VS </a:t>
            </a:r>
            <a:r>
              <a:rPr lang="pt-BR" sz="3600" b="1" dirty="0" err="1"/>
              <a:t>Code</a:t>
            </a:r>
            <a:r>
              <a:rPr lang="pt-BR" sz="3600" b="1" dirty="0"/>
              <a:t> </a:t>
            </a:r>
            <a:r>
              <a:rPr lang="pt-BR" sz="3600" dirty="0"/>
              <a:t>contam até com </a:t>
            </a:r>
            <a:r>
              <a:rPr lang="pt-BR" sz="3600" b="1" dirty="0"/>
              <a:t>MCP Servers </a:t>
            </a:r>
            <a:r>
              <a:rPr lang="pt-BR" sz="3600" dirty="0"/>
              <a:t>embutidos</a:t>
            </a:r>
            <a:endParaRPr lang="pt-BR" sz="3600" b="1" dirty="0"/>
          </a:p>
        </p:txBody>
      </p:sp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2BE43A72-2F18-79A8-3606-EEC30446BDEB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-10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139752" y="2384519"/>
            <a:ext cx="2978058" cy="2978058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CAF02F05-2602-3F46-951E-7DD97F8CF6D8}"/>
              </a:ext>
            </a:extLst>
          </p:cNvPr>
          <p:cNvSpPr txBox="1">
            <a:spLocks/>
          </p:cNvSpPr>
          <p:nvPr/>
        </p:nvSpPr>
        <p:spPr>
          <a:xfrm>
            <a:off x="838200" y="1181100"/>
            <a:ext cx="13792200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800" dirty="0">
                <a:latin typeface="Roboto" panose="02000000000000000000" pitchFamily="2" charset="0"/>
                <a:ea typeface="Roboto" panose="02000000000000000000" pitchFamily="2" charset="0"/>
              </a:rPr>
              <a:t>MCPs + </a:t>
            </a:r>
            <a:r>
              <a:rPr lang="en-US" sz="4800" dirty="0" err="1">
                <a:latin typeface="Roboto" panose="02000000000000000000" pitchFamily="2" charset="0"/>
                <a:ea typeface="Roboto" panose="02000000000000000000" pitchFamily="2" charset="0"/>
              </a:rPr>
              <a:t>Produtividade</a:t>
            </a:r>
            <a:r>
              <a:rPr lang="en-US" sz="4800" dirty="0">
                <a:latin typeface="Roboto" panose="02000000000000000000" pitchFamily="2" charset="0"/>
                <a:ea typeface="Roboto" panose="02000000000000000000" pitchFamily="2" charset="0"/>
              </a:rPr>
              <a:t> no </a:t>
            </a:r>
            <a:r>
              <a:rPr lang="en-US" sz="4800" dirty="0" err="1">
                <a:latin typeface="Roboto" panose="02000000000000000000" pitchFamily="2" charset="0"/>
                <a:ea typeface="Roboto" panose="02000000000000000000" pitchFamily="2" charset="0"/>
              </a:rPr>
              <a:t>Desenvolvimento</a:t>
            </a:r>
            <a:endParaRPr lang="en-US" sz="4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8" name="Imagem 7" descr="Ícone&#10;&#10;Descrição gerada automaticamente">
            <a:extLst>
              <a:ext uri="{FF2B5EF4-FFF2-40B4-BE49-F238E27FC236}">
                <a16:creationId xmlns:a16="http://schemas.microsoft.com/office/drawing/2014/main" id="{E2C0DFE5-B878-3860-F01A-C979E28F79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199732" y="6286500"/>
            <a:ext cx="2464209" cy="2464209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435A689F-21F2-68FE-7B85-ABCFFDC7E108}"/>
              </a:ext>
            </a:extLst>
          </p:cNvPr>
          <p:cNvPicPr>
            <a:picLocks noChangeAspect="1"/>
          </p:cNvPicPr>
          <p:nvPr/>
        </p:nvPicPr>
        <p:blipFill>
          <a:blip>
            <a:lum bright="-20000" contrast="40000"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405893" y="4549869"/>
            <a:ext cx="2625769" cy="2179389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8869685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B34D0-F733-3D13-1DE6-6F354B348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20AB4CC-E03A-2277-2EAE-B3CC9562FA5F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>
              <a:extLst>
                <a:ext uri="{FF2B5EF4-FFF2-40B4-BE49-F238E27FC236}">
                  <a16:creationId xmlns:a16="http://schemas.microsoft.com/office/drawing/2014/main" id="{C937F563-2099-FC10-6568-33089513ECD4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Freeform 4">
            <a:extLst>
              <a:ext uri="{FF2B5EF4-FFF2-40B4-BE49-F238E27FC236}">
                <a16:creationId xmlns:a16="http://schemas.microsoft.com/office/drawing/2014/main" id="{EDC7E7A0-D54A-EDDA-0163-629C5AE1249B}"/>
              </a:ext>
            </a:extLst>
          </p:cNvPr>
          <p:cNvSpPr/>
          <p:nvPr/>
        </p:nvSpPr>
        <p:spPr>
          <a:xfrm>
            <a:off x="13722693" y="461626"/>
            <a:ext cx="642518" cy="687237"/>
          </a:xfrm>
          <a:custGeom>
            <a:avLst/>
            <a:gdLst/>
            <a:ahLst/>
            <a:cxnLst/>
            <a:rect l="l" t="t" r="r" b="b"/>
            <a:pathLst>
              <a:path w="642518" h="687237">
                <a:moveTo>
                  <a:pt x="0" y="0"/>
                </a:moveTo>
                <a:lnTo>
                  <a:pt x="642517" y="0"/>
                </a:lnTo>
                <a:lnTo>
                  <a:pt x="642517" y="687237"/>
                </a:lnTo>
                <a:lnTo>
                  <a:pt x="0" y="687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EDD9CC4-F649-5FD7-B8FE-81F959312F0A}"/>
              </a:ext>
            </a:extLst>
          </p:cNvPr>
          <p:cNvSpPr txBox="1">
            <a:spLocks/>
          </p:cNvSpPr>
          <p:nvPr/>
        </p:nvSpPr>
        <p:spPr>
          <a:xfrm>
            <a:off x="914399" y="2733974"/>
            <a:ext cx="10210801" cy="599092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3600" dirty="0"/>
              <a:t>Boas práticas de segurança foram agrupadas na iniciativa </a:t>
            </a:r>
            <a:r>
              <a:rPr lang="pt-BR" sz="3600" b="1" dirty="0"/>
              <a:t>OWASP MCP Top 10</a:t>
            </a:r>
          </a:p>
          <a:p>
            <a:endParaRPr lang="pt-BR" sz="3600" dirty="0"/>
          </a:p>
          <a:p>
            <a:r>
              <a:rPr lang="pt-BR" sz="3600" b="1" dirty="0" err="1"/>
              <a:t>APIsec</a:t>
            </a:r>
            <a:r>
              <a:rPr lang="pt-BR" sz="3600" b="1" dirty="0"/>
              <a:t> MCP Discovery </a:t>
            </a:r>
            <a:r>
              <a:rPr lang="pt-BR" sz="3600" b="1" dirty="0" err="1"/>
              <a:t>and</a:t>
            </a:r>
            <a:r>
              <a:rPr lang="pt-BR" sz="3600" b="1" dirty="0"/>
              <a:t> </a:t>
            </a:r>
            <a:r>
              <a:rPr lang="pt-BR" sz="3600" b="1" dirty="0" err="1"/>
              <a:t>Audit</a:t>
            </a:r>
            <a:r>
              <a:rPr lang="pt-BR" sz="3600" b="1" dirty="0"/>
              <a:t> </a:t>
            </a:r>
            <a:r>
              <a:rPr lang="pt-BR" sz="3600" dirty="0"/>
              <a:t>detectando configurações em repositórios</a:t>
            </a:r>
          </a:p>
          <a:p>
            <a:endParaRPr lang="pt-BR" sz="3600" dirty="0"/>
          </a:p>
          <a:p>
            <a:r>
              <a:rPr lang="pt-BR" sz="3600" b="1" dirty="0"/>
              <a:t>Docker MCP </a:t>
            </a:r>
            <a:r>
              <a:rPr lang="pt-BR" sz="3600" b="1" dirty="0" err="1"/>
              <a:t>Catalog</a:t>
            </a:r>
            <a:r>
              <a:rPr lang="pt-BR" sz="3600" dirty="0"/>
              <a:t> com MCP Servers considerados seguros</a:t>
            </a:r>
            <a:endParaRPr lang="pt-BR" sz="3600" b="1" dirty="0"/>
          </a:p>
        </p:txBody>
      </p:sp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C278FAE4-06AB-6086-83EB-8025B6982230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-10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125200" y="2622642"/>
            <a:ext cx="2978058" cy="2978058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755443DD-46B4-97BD-A75E-598FCF31A80F}"/>
              </a:ext>
            </a:extLst>
          </p:cNvPr>
          <p:cNvSpPr txBox="1">
            <a:spLocks/>
          </p:cNvSpPr>
          <p:nvPr/>
        </p:nvSpPr>
        <p:spPr>
          <a:xfrm>
            <a:off x="838200" y="1181100"/>
            <a:ext cx="13792200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800" dirty="0" err="1">
                <a:latin typeface="Roboto" panose="02000000000000000000" pitchFamily="2" charset="0"/>
                <a:ea typeface="Roboto" panose="02000000000000000000" pitchFamily="2" charset="0"/>
              </a:rPr>
              <a:t>Segurança</a:t>
            </a:r>
            <a:r>
              <a:rPr lang="en-US" sz="4800" dirty="0">
                <a:latin typeface="Roboto" panose="02000000000000000000" pitchFamily="2" charset="0"/>
                <a:ea typeface="Roboto" panose="02000000000000000000" pitchFamily="2" charset="0"/>
              </a:rPr>
              <a:t> com MCPs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B7045A9-7F36-38E7-2A42-DC509EEA04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151454" y="5372100"/>
            <a:ext cx="2427514" cy="2427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7477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13458-05C9-8670-DC99-293A02F14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990B615-66BB-DFCD-AB61-23211CA8C568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>
              <a:extLst>
                <a:ext uri="{FF2B5EF4-FFF2-40B4-BE49-F238E27FC236}">
                  <a16:creationId xmlns:a16="http://schemas.microsoft.com/office/drawing/2014/main" id="{7D5526D2-D3C0-EB47-47DC-1DBD0514C29F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Freeform 4">
            <a:extLst>
              <a:ext uri="{FF2B5EF4-FFF2-40B4-BE49-F238E27FC236}">
                <a16:creationId xmlns:a16="http://schemas.microsoft.com/office/drawing/2014/main" id="{BDB139B8-F2D5-2C34-5D01-0F4C8C2C1ACF}"/>
              </a:ext>
            </a:extLst>
          </p:cNvPr>
          <p:cNvSpPr/>
          <p:nvPr/>
        </p:nvSpPr>
        <p:spPr>
          <a:xfrm>
            <a:off x="13722693" y="461626"/>
            <a:ext cx="642518" cy="687237"/>
          </a:xfrm>
          <a:custGeom>
            <a:avLst/>
            <a:gdLst/>
            <a:ahLst/>
            <a:cxnLst/>
            <a:rect l="l" t="t" r="r" b="b"/>
            <a:pathLst>
              <a:path w="642518" h="687237">
                <a:moveTo>
                  <a:pt x="0" y="0"/>
                </a:moveTo>
                <a:lnTo>
                  <a:pt x="642517" y="0"/>
                </a:lnTo>
                <a:lnTo>
                  <a:pt x="642517" y="687237"/>
                </a:lnTo>
                <a:lnTo>
                  <a:pt x="0" y="687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3F85D9A-43EC-7169-F0F8-D7DD6105365F}"/>
              </a:ext>
            </a:extLst>
          </p:cNvPr>
          <p:cNvSpPr txBox="1">
            <a:spLocks/>
          </p:cNvSpPr>
          <p:nvPr/>
        </p:nvSpPr>
        <p:spPr>
          <a:xfrm>
            <a:off x="1295400" y="3108723"/>
            <a:ext cx="13792200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 err="1">
                <a:latin typeface="Roboto" panose="02000000000000000000" pitchFamily="2" charset="0"/>
                <a:ea typeface="Roboto" panose="02000000000000000000" pitchFamily="2" charset="0"/>
              </a:rPr>
              <a:t>Exemplos</a:t>
            </a:r>
            <a:r>
              <a:rPr lang="en-US" sz="48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4800" dirty="0" err="1">
                <a:latin typeface="Roboto" panose="02000000000000000000" pitchFamily="2" charset="0"/>
                <a:ea typeface="Roboto" panose="02000000000000000000" pitchFamily="2" charset="0"/>
              </a:rPr>
              <a:t>práticos</a:t>
            </a:r>
            <a:endParaRPr lang="en-US" sz="4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0" name="Imagem 9" descr="Ícone&#10;&#10;O conteúdo gerado por IA pode estar incorreto.">
            <a:extLst>
              <a:ext uri="{FF2B5EF4-FFF2-40B4-BE49-F238E27FC236}">
                <a16:creationId xmlns:a16="http://schemas.microsoft.com/office/drawing/2014/main" id="{7AB3E62B-9E19-2ADD-0106-7AB4A11DCC63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-10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52587" y="4686300"/>
            <a:ext cx="2578724" cy="2578724"/>
          </a:xfrm>
          <a:prstGeom prst="rect">
            <a:avLst/>
          </a:prstGeom>
        </p:spPr>
      </p:pic>
      <p:pic>
        <p:nvPicPr>
          <p:cNvPr id="12" name="Imagem 11" descr="Ícone&#10;&#10;Descrição gerada automaticamente">
            <a:extLst>
              <a:ext uri="{FF2B5EF4-FFF2-40B4-BE49-F238E27FC236}">
                <a16:creationId xmlns:a16="http://schemas.microsoft.com/office/drawing/2014/main" id="{62AA0B61-A9D2-45AF-C83D-2E2842CB9D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60211" y="4938475"/>
            <a:ext cx="2179389" cy="2179389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4204A997-DEA2-F36E-F880-D69D3EF5324F}"/>
              </a:ext>
            </a:extLst>
          </p:cNvPr>
          <p:cNvPicPr>
            <a:picLocks noChangeAspect="1"/>
          </p:cNvPicPr>
          <p:nvPr/>
        </p:nvPicPr>
        <p:blipFill>
          <a:blip>
            <a:lum bright="-20000" contrast="40000"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62368" y="4938474"/>
            <a:ext cx="2625769" cy="2179389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5153658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AB6C8-6872-8A43-F86B-68ED5E39E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D8BD174-FB83-E22D-63BC-C9A7D8C06B47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>
              <a:extLst>
                <a:ext uri="{FF2B5EF4-FFF2-40B4-BE49-F238E27FC236}">
                  <a16:creationId xmlns:a16="http://schemas.microsoft.com/office/drawing/2014/main" id="{DBC9A456-69C3-D05E-41B8-6348986C34FC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 sz="2000"/>
            </a:p>
          </p:txBody>
        </p:sp>
      </p:grpSp>
      <p:sp>
        <p:nvSpPr>
          <p:cNvPr id="4" name="Freeform 4">
            <a:extLst>
              <a:ext uri="{FF2B5EF4-FFF2-40B4-BE49-F238E27FC236}">
                <a16:creationId xmlns:a16="http://schemas.microsoft.com/office/drawing/2014/main" id="{54FD54B3-4E03-0C0A-64DE-FCB1B901DB56}"/>
              </a:ext>
            </a:extLst>
          </p:cNvPr>
          <p:cNvSpPr/>
          <p:nvPr/>
        </p:nvSpPr>
        <p:spPr>
          <a:xfrm>
            <a:off x="15627693" y="461626"/>
            <a:ext cx="642518" cy="687237"/>
          </a:xfrm>
          <a:custGeom>
            <a:avLst/>
            <a:gdLst/>
            <a:ahLst/>
            <a:cxnLst/>
            <a:rect l="l" t="t" r="r" b="b"/>
            <a:pathLst>
              <a:path w="642518" h="687237">
                <a:moveTo>
                  <a:pt x="0" y="0"/>
                </a:moveTo>
                <a:lnTo>
                  <a:pt x="642517" y="0"/>
                </a:lnTo>
                <a:lnTo>
                  <a:pt x="642517" y="687237"/>
                </a:lnTo>
                <a:lnTo>
                  <a:pt x="0" y="687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141A635-63BF-697D-952C-6312ED0E957D}"/>
              </a:ext>
            </a:extLst>
          </p:cNvPr>
          <p:cNvSpPr txBox="1">
            <a:spLocks/>
          </p:cNvSpPr>
          <p:nvPr/>
        </p:nvSpPr>
        <p:spPr>
          <a:xfrm>
            <a:off x="838200" y="1181100"/>
            <a:ext cx="10515600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</a:rPr>
              <a:t>Conteúdos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</a:rPr>
              <a:t>desta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</a:rPr>
              <a:t>apresentação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C446022-4906-3D6C-5D33-F3876071E1B1}"/>
              </a:ext>
            </a:extLst>
          </p:cNvPr>
          <p:cNvSpPr txBox="1">
            <a:spLocks/>
          </p:cNvSpPr>
          <p:nvPr/>
        </p:nvSpPr>
        <p:spPr>
          <a:xfrm>
            <a:off x="11734800" y="4556651"/>
            <a:ext cx="4762500" cy="1173697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1667"/>
              </a:lnSpc>
              <a:spcAft>
                <a:spcPts val="11004"/>
              </a:spcAft>
              <a:buNone/>
            </a:pPr>
            <a:r>
              <a:rPr lang="pt-BR" sz="4400" dirty="0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Deixem um star </a:t>
            </a:r>
            <a:r>
              <a:rPr lang="pt-BR" sz="4400" dirty="0">
                <a:solidFill>
                  <a:schemeClr val="tx1">
                    <a:lumMod val="75000"/>
                  </a:schemeClr>
                </a:solidFill>
                <a:latin typeface="Maven Pro Regular" pitchFamily="34" charset="0"/>
                <a:cs typeface="Maven Pro Regular" pitchFamily="34" charset="-120"/>
              </a:rPr>
              <a:t>⭐</a:t>
            </a:r>
            <a:r>
              <a:rPr lang="pt-BR" sz="4400" dirty="0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 </a:t>
            </a:r>
            <a:r>
              <a:rPr lang="en-US" sz="4400" dirty="0" err="1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apoiando</a:t>
            </a:r>
            <a:endParaRPr lang="pt-BR" sz="4400" dirty="0">
              <a:solidFill>
                <a:schemeClr val="tx1">
                  <a:lumMod val="75000"/>
                </a:schemeClr>
              </a:solidFill>
              <a:latin typeface="Maven Pro Black" pitchFamily="2" charset="77"/>
              <a:cs typeface="Maven Pro Regular" pitchFamily="34" charset="-12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ABA0C21-4C0D-8CD6-D381-7B3B7B8DCE7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2750" y="2374328"/>
            <a:ext cx="4762500" cy="4762500"/>
          </a:xfrm>
          <a:prstGeom prst="rect">
            <a:avLst/>
          </a:prstGeom>
        </p:spPr>
      </p:pic>
      <p:sp>
        <p:nvSpPr>
          <p:cNvPr id="11" name="Espaço Reservado para Texto 2">
            <a:extLst>
              <a:ext uri="{FF2B5EF4-FFF2-40B4-BE49-F238E27FC236}">
                <a16:creationId xmlns:a16="http://schemas.microsoft.com/office/drawing/2014/main" id="{14F452DE-8892-38C7-8866-EB684093E4FB}"/>
              </a:ext>
            </a:extLst>
          </p:cNvPr>
          <p:cNvSpPr>
            <a:spLocks noGrp="1"/>
          </p:cNvSpPr>
          <p:nvPr/>
        </p:nvSpPr>
        <p:spPr>
          <a:xfrm>
            <a:off x="1066800" y="7654139"/>
            <a:ext cx="16306800" cy="683264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txBody>
          <a:bodyPr vert="horz" wrap="square" lIns="146304" tIns="91440" rIns="146304" bIns="9144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4000" kern="1200" spc="0" baseline="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2286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4572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6858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3600" b="1" dirty="0">
                <a:solidFill>
                  <a:schemeClr val="bg1"/>
                </a:solidFill>
              </a:rPr>
              <a:t>github.com/renatogroffe/produtividade-ias-mcps_mvpconf-sorocaba-2026-06</a:t>
            </a:r>
          </a:p>
        </p:txBody>
      </p:sp>
    </p:spTree>
    <p:extLst>
      <p:ext uri="{BB962C8B-B14F-4D97-AF65-F5344CB8AC3E}">
        <p14:creationId xmlns:p14="http://schemas.microsoft.com/office/powerpoint/2010/main" val="3234402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286250" y="4552950"/>
            <a:ext cx="6972300" cy="1847850"/>
            <a:chOff x="0" y="0"/>
            <a:chExt cx="1836326" cy="48667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36326" cy="486677"/>
            </a:xfrm>
            <a:custGeom>
              <a:avLst/>
              <a:gdLst/>
              <a:ahLst/>
              <a:cxnLst/>
              <a:rect l="l" t="t" r="r" b="b"/>
              <a:pathLst>
                <a:path w="1836326" h="486677">
                  <a:moveTo>
                    <a:pt x="0" y="0"/>
                  </a:moveTo>
                  <a:lnTo>
                    <a:pt x="1836326" y="0"/>
                  </a:lnTo>
                  <a:lnTo>
                    <a:pt x="1836326" y="486677"/>
                  </a:lnTo>
                  <a:lnTo>
                    <a:pt x="0" y="486677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1836326" cy="5152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5962650" y="6640614"/>
            <a:ext cx="1397771" cy="264458"/>
          </a:xfrm>
          <a:custGeom>
            <a:avLst/>
            <a:gdLst/>
            <a:ahLst/>
            <a:cxnLst/>
            <a:rect l="l" t="t" r="r" b="b"/>
            <a:pathLst>
              <a:path w="1397771" h="264458">
                <a:moveTo>
                  <a:pt x="0" y="0"/>
                </a:moveTo>
                <a:lnTo>
                  <a:pt x="1397771" y="0"/>
                </a:lnTo>
                <a:lnTo>
                  <a:pt x="1397771" y="264458"/>
                </a:lnTo>
                <a:lnTo>
                  <a:pt x="0" y="2644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8" name="Freeform 8"/>
          <p:cNvSpPr/>
          <p:nvPr/>
        </p:nvSpPr>
        <p:spPr>
          <a:xfrm>
            <a:off x="7486650" y="6662921"/>
            <a:ext cx="1511429" cy="219844"/>
          </a:xfrm>
          <a:custGeom>
            <a:avLst/>
            <a:gdLst/>
            <a:ahLst/>
            <a:cxnLst/>
            <a:rect l="l" t="t" r="r" b="b"/>
            <a:pathLst>
              <a:path w="1511429" h="219844">
                <a:moveTo>
                  <a:pt x="0" y="0"/>
                </a:moveTo>
                <a:lnTo>
                  <a:pt x="1511429" y="0"/>
                </a:lnTo>
                <a:lnTo>
                  <a:pt x="1511429" y="219844"/>
                </a:lnTo>
                <a:lnTo>
                  <a:pt x="0" y="2198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9" name="Freeform 9"/>
          <p:cNvSpPr/>
          <p:nvPr/>
        </p:nvSpPr>
        <p:spPr>
          <a:xfrm>
            <a:off x="9155173" y="6634935"/>
            <a:ext cx="1432816" cy="275817"/>
          </a:xfrm>
          <a:custGeom>
            <a:avLst/>
            <a:gdLst/>
            <a:ahLst/>
            <a:cxnLst/>
            <a:rect l="l" t="t" r="r" b="b"/>
            <a:pathLst>
              <a:path w="1432816" h="275817">
                <a:moveTo>
                  <a:pt x="0" y="0"/>
                </a:moveTo>
                <a:lnTo>
                  <a:pt x="1432816" y="0"/>
                </a:lnTo>
                <a:lnTo>
                  <a:pt x="1432816" y="275817"/>
                </a:lnTo>
                <a:lnTo>
                  <a:pt x="0" y="27581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0" name="TextBox 10"/>
          <p:cNvSpPr txBox="1"/>
          <p:nvPr/>
        </p:nvSpPr>
        <p:spPr>
          <a:xfrm>
            <a:off x="4286250" y="5829300"/>
            <a:ext cx="69723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0"/>
              </a:lnSpc>
              <a:spcBef>
                <a:spcPct val="0"/>
              </a:spcBef>
            </a:pPr>
            <a:r>
              <a:rPr lang="pt-BR" b="1" dirty="0">
                <a:solidFill>
                  <a:srgbClr val="000000"/>
                </a:solidFill>
                <a:latin typeface="Quantico Bold"/>
                <a:ea typeface="Quantico Bold"/>
                <a:cs typeface="Quantico Bold"/>
                <a:sym typeface="Quantico Bold"/>
              </a:rPr>
              <a:t>Produtividade no Desenvolvimento com </a:t>
            </a:r>
            <a:r>
              <a:rPr lang="pt-BR" b="1" dirty="0" err="1">
                <a:solidFill>
                  <a:srgbClr val="000000"/>
                </a:solidFill>
                <a:latin typeface="Quantico Bold"/>
                <a:ea typeface="Quantico Bold"/>
                <a:cs typeface="Quantico Bold"/>
                <a:sym typeface="Quantico Bold"/>
              </a:rPr>
              <a:t>IAs</a:t>
            </a:r>
            <a:endParaRPr lang="en-US" sz="1800" b="1" dirty="0">
              <a:solidFill>
                <a:srgbClr val="000000"/>
              </a:solidFill>
              <a:latin typeface="Quantico Bold"/>
              <a:ea typeface="Quantico Bold"/>
              <a:cs typeface="Quantico Bold"/>
              <a:sym typeface="Quantico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436</Words>
  <Application>Microsoft Office PowerPoint</Application>
  <PresentationFormat>Personalizar</PresentationFormat>
  <Paragraphs>109</Paragraphs>
  <Slides>14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21" baseType="lpstr">
      <vt:lpstr>Roboto</vt:lpstr>
      <vt:lpstr>Maven Pro Black</vt:lpstr>
      <vt:lpstr>Quantico Bold</vt:lpstr>
      <vt:lpstr>Arial</vt:lpstr>
      <vt:lpstr>Maven Pro Regular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APRENSENTACAO - MVPCONF REGIONAL SOROCABA</dc:title>
  <dc:creator>Rosani Coutinho</dc:creator>
  <cp:lastModifiedBy>Renato Groffe</cp:lastModifiedBy>
  <cp:revision>6</cp:revision>
  <dcterms:created xsi:type="dcterms:W3CDTF">2006-08-16T00:00:00Z</dcterms:created>
  <dcterms:modified xsi:type="dcterms:W3CDTF">2026-06-12T04:04:00Z</dcterms:modified>
  <dc:identifier>DAHLFI9Kr8g</dc:identifier>
</cp:coreProperties>
</file>